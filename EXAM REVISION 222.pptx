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5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table!PivotTable4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Performance</a:t>
            </a:r>
            <a:r>
              <a:rPr lang="en-US" baseline="0"/>
              <a:t> Score By Department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2711786513067195E-2"/>
          <c:y val="0.24873929849677884"/>
          <c:w val="0.78645603674540687"/>
          <c:h val="0.3966174540682414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table'!$D$3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table'!$C$4:$C$9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'pivot table'!$D$4:$D$9</c:f>
              <c:numCache>
                <c:formatCode>General</c:formatCode>
                <c:ptCount val="5"/>
                <c:pt idx="0">
                  <c:v>27.6</c:v>
                </c:pt>
                <c:pt idx="1">
                  <c:v>48.7</c:v>
                </c:pt>
                <c:pt idx="2">
                  <c:v>50.599999999999994</c:v>
                </c:pt>
                <c:pt idx="3">
                  <c:v>52.3</c:v>
                </c:pt>
                <c:pt idx="4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79-4136-9784-95F8AC6402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541414976"/>
        <c:axId val="1541415456"/>
        <c:axId val="0"/>
      </c:bar3DChart>
      <c:catAx>
        <c:axId val="154141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415456"/>
        <c:crosses val="autoZero"/>
        <c:auto val="1"/>
        <c:lblAlgn val="ctr"/>
        <c:lblOffset val="100"/>
        <c:noMultiLvlLbl val="0"/>
      </c:catAx>
      <c:valAx>
        <c:axId val="15414154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141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table!PivotTable5</c:name>
    <c:fmtId val="3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No.</a:t>
            </a:r>
            <a:r>
              <a:rPr lang="en-US" baseline="0"/>
              <a:t> of Employee by Region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8301886792452828E-2"/>
          <c:y val="0.28578252098652956"/>
          <c:w val="0.70264150943396231"/>
          <c:h val="0.62606320904101864"/>
        </c:manualLayout>
      </c:layout>
      <c:pie3DChart>
        <c:varyColors val="1"/>
        <c:ser>
          <c:idx val="0"/>
          <c:order val="0"/>
          <c:tx>
            <c:strRef>
              <c:f>'pivot table'!$B$12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97F-4C20-8DC0-D1A3BCBF584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97F-4C20-8DC0-D1A3BCBF584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97F-4C20-8DC0-D1A3BCBF584A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'pivot table'!$A$13:$A$16</c:f>
              <c:strCache>
                <c:ptCount val="3"/>
                <c:pt idx="0">
                  <c:v>Abuja</c:v>
                </c:pt>
                <c:pt idx="1">
                  <c:v>Lagos</c:v>
                </c:pt>
                <c:pt idx="2">
                  <c:v>Remote</c:v>
                </c:pt>
              </c:strCache>
            </c:strRef>
          </c:cat>
          <c:val>
            <c:numRef>
              <c:f>'pivot table'!$B$13:$B$16</c:f>
              <c:numCache>
                <c:formatCode>General</c:formatCode>
                <c:ptCount val="3"/>
                <c:pt idx="0">
                  <c:v>28</c:v>
                </c:pt>
                <c:pt idx="1">
                  <c:v>25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7F-4C20-8DC0-D1A3BCBF5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table!PivotTable6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Job</a:t>
            </a:r>
            <a:r>
              <a:rPr lang="en-US" baseline="0"/>
              <a:t> Level by Salary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6771128608923883"/>
          <c:y val="0.19486111111111112"/>
          <c:w val="0.70295538057742779"/>
          <c:h val="0.7208876494604841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table'!$C$19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table'!$B$20:$B$23</c:f>
              <c:strCache>
                <c:ptCount val="3"/>
                <c:pt idx="0">
                  <c:v>Junior</c:v>
                </c:pt>
                <c:pt idx="1">
                  <c:v>Mid-Level</c:v>
                </c:pt>
                <c:pt idx="2">
                  <c:v>Senior</c:v>
                </c:pt>
              </c:strCache>
            </c:strRef>
          </c:cat>
          <c:val>
            <c:numRef>
              <c:f>'pivot table'!$C$20:$C$23</c:f>
              <c:numCache>
                <c:formatCode>General</c:formatCode>
                <c:ptCount val="3"/>
                <c:pt idx="0">
                  <c:v>33</c:v>
                </c:pt>
                <c:pt idx="1">
                  <c:v>25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7F-4A4B-9913-2836FBB42D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8129760"/>
        <c:axId val="1158138880"/>
        <c:axId val="0"/>
      </c:bar3DChart>
      <c:catAx>
        <c:axId val="1158129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38880"/>
        <c:crosses val="autoZero"/>
        <c:auto val="1"/>
        <c:lblAlgn val="ctr"/>
        <c:lblOffset val="100"/>
        <c:noMultiLvlLbl val="0"/>
      </c:catAx>
      <c:valAx>
        <c:axId val="115813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2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table!PivotTable6</c:name>
    <c:fmtId val="4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Job</a:t>
            </a:r>
            <a:r>
              <a:rPr lang="en-US" sz="2400" baseline="0" dirty="0"/>
              <a:t> Level by Salary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6771128608923883"/>
          <c:y val="0.19486111111111112"/>
          <c:w val="0.70295538057742779"/>
          <c:h val="0.7208876494604841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table'!$C$19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table'!$B$20:$B$23</c:f>
              <c:strCache>
                <c:ptCount val="3"/>
                <c:pt idx="0">
                  <c:v>Junior</c:v>
                </c:pt>
                <c:pt idx="1">
                  <c:v>Mid-Level</c:v>
                </c:pt>
                <c:pt idx="2">
                  <c:v>Senior</c:v>
                </c:pt>
              </c:strCache>
            </c:strRef>
          </c:cat>
          <c:val>
            <c:numRef>
              <c:f>'pivot table'!$C$20:$C$23</c:f>
              <c:numCache>
                <c:formatCode>General</c:formatCode>
                <c:ptCount val="3"/>
                <c:pt idx="0">
                  <c:v>33</c:v>
                </c:pt>
                <c:pt idx="1">
                  <c:v>25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4-4D81-AF1E-17EC68D9DF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8129760"/>
        <c:axId val="1158138880"/>
        <c:axId val="0"/>
      </c:bar3DChart>
      <c:catAx>
        <c:axId val="1158129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38880"/>
        <c:crosses val="autoZero"/>
        <c:auto val="1"/>
        <c:lblAlgn val="ctr"/>
        <c:lblOffset val="100"/>
        <c:noMultiLvlLbl val="0"/>
      </c:catAx>
      <c:valAx>
        <c:axId val="115813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2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table!PivotTable4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Performance</a:t>
            </a:r>
            <a:r>
              <a:rPr lang="en-US" sz="2000" baseline="0" dirty="0"/>
              <a:t> Score By Department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2711786513067195E-2"/>
          <c:y val="0.24873929849677884"/>
          <c:w val="0.78645603674540687"/>
          <c:h val="0.3966174540682414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table'!$D$3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table'!$C$4:$C$9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'pivot table'!$D$4:$D$9</c:f>
              <c:numCache>
                <c:formatCode>General</c:formatCode>
                <c:ptCount val="5"/>
                <c:pt idx="0">
                  <c:v>27.6</c:v>
                </c:pt>
                <c:pt idx="1">
                  <c:v>48.7</c:v>
                </c:pt>
                <c:pt idx="2">
                  <c:v>50.599999999999994</c:v>
                </c:pt>
                <c:pt idx="3">
                  <c:v>52.3</c:v>
                </c:pt>
                <c:pt idx="4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10-433A-9CC6-555161E3CA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541414976"/>
        <c:axId val="1541415456"/>
        <c:axId val="0"/>
      </c:bar3DChart>
      <c:catAx>
        <c:axId val="154141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415456"/>
        <c:crosses val="autoZero"/>
        <c:auto val="1"/>
        <c:lblAlgn val="ctr"/>
        <c:lblOffset val="100"/>
        <c:noMultiLvlLbl val="0"/>
      </c:catAx>
      <c:valAx>
        <c:axId val="15414154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141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table!PivotTable5</c:name>
    <c:fmtId val="4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No.</a:t>
            </a:r>
            <a:r>
              <a:rPr lang="en-US" sz="2400" baseline="0" dirty="0"/>
              <a:t> of Employee by Region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8301886792452828E-2"/>
          <c:y val="0.28578252098652956"/>
          <c:w val="0.70264150943396231"/>
          <c:h val="0.62606320904101864"/>
        </c:manualLayout>
      </c:layout>
      <c:pie3DChart>
        <c:varyColors val="1"/>
        <c:ser>
          <c:idx val="0"/>
          <c:order val="0"/>
          <c:tx>
            <c:strRef>
              <c:f>'pivot table'!$B$12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FEF-4D24-B934-702193A56B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FEF-4D24-B934-702193A56B2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FEF-4D24-B934-702193A56B21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'pivot table'!$A$13:$A$16</c:f>
              <c:strCache>
                <c:ptCount val="3"/>
                <c:pt idx="0">
                  <c:v>Abuja</c:v>
                </c:pt>
                <c:pt idx="1">
                  <c:v>Lagos</c:v>
                </c:pt>
                <c:pt idx="2">
                  <c:v>Remote</c:v>
                </c:pt>
              </c:strCache>
            </c:strRef>
          </c:cat>
          <c:val>
            <c:numRef>
              <c:f>'pivot table'!$B$13:$B$16</c:f>
              <c:numCache>
                <c:formatCode>General</c:formatCode>
                <c:ptCount val="3"/>
                <c:pt idx="0">
                  <c:v>28</c:v>
                </c:pt>
                <c:pt idx="1">
                  <c:v>25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EF-4D24-B934-702193A56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(1).xlsx]Sheet1!PivotTable1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Relationship btw Salary and Performance score.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354481745642905"/>
          <c:y val="0.12424264300724439"/>
          <c:w val="0.61679553252936747"/>
          <c:h val="0.80218062536139445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Count of Monthly_Salary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Sheet1!$B$4:$B$9</c:f>
              <c:numCache>
                <c:formatCode>General</c:formatCode>
                <c:ptCount val="5"/>
                <c:pt idx="0">
                  <c:v>9</c:v>
                </c:pt>
                <c:pt idx="1">
                  <c:v>18</c:v>
                </c:pt>
                <c:pt idx="2">
                  <c:v>20</c:v>
                </c:pt>
                <c:pt idx="3">
                  <c:v>15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B-4870-BC82-A3A696B85FCD}"/>
            </c:ext>
          </c:extLst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Sum of Performance_Score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Sheet1!$C$4:$C$9</c:f>
              <c:numCache>
                <c:formatCode>General</c:formatCode>
                <c:ptCount val="5"/>
                <c:pt idx="0">
                  <c:v>27.6</c:v>
                </c:pt>
                <c:pt idx="1">
                  <c:v>48.7</c:v>
                </c:pt>
                <c:pt idx="2">
                  <c:v>50.599999999999994</c:v>
                </c:pt>
                <c:pt idx="3">
                  <c:v>52.3</c:v>
                </c:pt>
                <c:pt idx="4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4B-4870-BC82-A3A696B85F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706663568"/>
        <c:axId val="1706664048"/>
        <c:axId val="0"/>
      </c:bar3DChart>
      <c:catAx>
        <c:axId val="17066635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6664048"/>
        <c:crosses val="autoZero"/>
        <c:auto val="1"/>
        <c:lblAlgn val="ctr"/>
        <c:lblOffset val="100"/>
        <c:noMultiLvlLbl val="0"/>
      </c:catAx>
      <c:valAx>
        <c:axId val="1706664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666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064345276845258"/>
          <c:y val="0.41008542721968672"/>
          <c:w val="0.30099413197532771"/>
          <c:h val="0.20020373249522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36EA-3BA8-D5E1-0E21-B50653891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B0C84-44EF-38FE-B33D-1B2A3E5EA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34C69-A559-D896-B97B-FA8CF617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1A85-95E2-734B-0C22-BD0533BC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D488D-A3A6-854B-C69F-E978A9A7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9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5A25-7352-C084-5E1E-99F96AEB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34791-9CA9-15B9-3989-EBB9333FE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3CB07-0EC9-BCDA-4EE9-33A67F82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F839-25FD-32F7-F1B6-162D3232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B70B-2FF9-D305-E93B-F3525C7C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0734-80F2-99EA-2FD9-B0CE5E06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77503-386A-6CD8-9A88-4AAC0E498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BB232-58BE-77D1-F34F-99988B92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2F16B-A502-107E-52B4-D2665745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FED5-3F0A-455E-5D08-1B250FE0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7F6-947E-569F-DA62-582BD8D3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9995A-84DF-4E76-BF39-513D417C5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84FC1-CF6B-2A60-A7BB-CDFE1624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4A0CE-BF5A-943B-5501-09B54D56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0E1AD-346F-8607-C719-BED53BEC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66C28-5934-3E81-C75F-DDA8B2DF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3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029B-A0E7-7930-A64C-871B4ECC6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50057-949E-1487-1092-94A6471E5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5271E-D8ED-C15A-F340-881B2F3D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CA9E4-60B2-83A7-673F-112A1DE7C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C85B9-E4C5-B6AF-16B6-9D9C4A800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26AA4-B17C-646F-639F-4AC1C138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06E0E8-FEBF-01E1-20CB-B7885055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51164-891A-D43F-6609-16C1CBE0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0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A9AD-F83F-A55A-27F5-1D72865D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8B40D-0A0B-75A8-0EF1-6BD72D46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E0A3D-F289-32C5-A6F6-487C33EA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F8571-D1C1-61E3-90F9-28B8DF73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7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6C646-DD35-BE0A-789F-4F262CFB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DC86DE-C191-00AE-3FB0-AE287E80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CDD76-E181-02A7-EDE2-0EDDEAB7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1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6E25-EBE7-119F-A658-9D439C59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27E6-E577-2431-E539-686E88ED5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4C8C-B156-B714-AE99-CDAA8C59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5AE25-680B-936D-A0D4-E446A0F7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174E4-363B-2840-C2A0-196E2762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0F705-536C-03C6-3F40-51A30ADF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0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A468-8950-3ADF-2869-9DF2C577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506F4-08C2-C3FD-97DE-7824FF956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9C5AE-A476-170D-9EAD-F97B35768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20467-19B5-AA38-3CB7-A392AEA3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F0CBE-72A6-4CD7-070B-4B9CC7D9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B7065-F072-4EE9-BD92-C110FF5D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8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C595-F698-6F58-AEAA-029D737E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F9BE1-D422-4AD8-F8EE-8C47A8117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2F5D-9021-2BB4-68E9-4F58E596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3E1DB-3401-B7D0-29BC-7DAB5A28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2BCA2-5954-CA03-07EF-CC9A95DE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6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A6FD1-BC19-C631-935C-0318A3D72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525D8-AC70-FE0F-5023-99801EF9D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7167-2E06-A658-37FC-3E42D559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41D9E-9A5C-F613-9D7D-A3362F2C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FA2DF-28CE-E3BC-E139-68B8F925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85D03-BCD7-2D02-98C7-A6B8CA42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EF7A9-6994-236A-E4DB-9BCDC4CB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CE74-1AAA-5F8F-2D36-4B1AB7455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2881-41AD-4DB0-9EF4-D7BECB4136F1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326F-6DBC-CAFD-7C4D-560232975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F1C6-1BC4-570E-F9CF-15233A09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0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2.png"/><Relationship Id="rId7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8CAE-8CB4-9941-D0DE-8ACAE1CD4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 202 Data Analysis</a:t>
            </a:r>
            <a:br>
              <a:rPr lang="en-US" dirty="0"/>
            </a:br>
            <a:r>
              <a:rPr lang="en-US" dirty="0"/>
              <a:t>Cosmopolitan University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35BC9-9AEB-A1F0-9C4B-3BBC5F5DD7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ANALYSIS EXAM ON EMPLOYEE PERFORMANCE DASHBOARD USING EXCEL.</a:t>
            </a:r>
          </a:p>
          <a:p>
            <a:r>
              <a:rPr lang="en-US" dirty="0"/>
              <a:t>BY: UCHEGBULEM KOSARACHI CHRISTABEL</a:t>
            </a:r>
          </a:p>
          <a:p>
            <a:r>
              <a:rPr lang="en-US" dirty="0"/>
              <a:t>Reg I.D: 26A-SMS-ECO-0695</a:t>
            </a:r>
          </a:p>
        </p:txBody>
      </p:sp>
    </p:spTree>
    <p:extLst>
      <p:ext uri="{BB962C8B-B14F-4D97-AF65-F5344CB8AC3E}">
        <p14:creationId xmlns:p14="http://schemas.microsoft.com/office/powerpoint/2010/main" val="374766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A69-90EA-3835-2CB5-28D26164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/>
              <a:t>Business Objective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E030-1A50-1F78-3765-0D0F7F25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company wants to understand:</a:t>
            </a:r>
          </a:p>
          <a:p>
            <a:pPr lvl="0"/>
            <a:r>
              <a:rPr lang="en-US" dirty="0"/>
              <a:t>Salary distribution</a:t>
            </a:r>
          </a:p>
          <a:p>
            <a:pPr lvl="0"/>
            <a:r>
              <a:rPr lang="en-US" dirty="0"/>
              <a:t>Department performance</a:t>
            </a:r>
          </a:p>
          <a:p>
            <a:pPr lvl="0"/>
            <a:r>
              <a:rPr lang="en-US" dirty="0"/>
              <a:t>Employee distribution by location</a:t>
            </a:r>
          </a:p>
          <a:p>
            <a:pPr lvl="0"/>
            <a:r>
              <a:rPr lang="en-US" dirty="0"/>
              <a:t>Relationship between salary and performance</a:t>
            </a:r>
          </a:p>
          <a:p>
            <a:pPr lvl="0"/>
            <a:r>
              <a:rPr lang="en-US" dirty="0"/>
              <a:t>Workforce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7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C651-9EFB-77EC-B336-03F0AB3D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20EF6C7-1252-3BA0-0736-A49D2FEFC1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77752"/>
              </p:ext>
            </p:extLst>
          </p:nvPr>
        </p:nvGraphicFramePr>
        <p:xfrm>
          <a:off x="0" y="0"/>
          <a:ext cx="10515603" cy="3932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743">
                  <a:extLst>
                    <a:ext uri="{9D8B030D-6E8A-4147-A177-3AD203B41FA5}">
                      <a16:colId xmlns:a16="http://schemas.microsoft.com/office/drawing/2014/main" val="3089218736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07477395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50422783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46332631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29873593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79280541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333904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746897090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49045745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18260291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86084206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922002082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81294809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362481536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986320593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236852720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038932443"/>
                    </a:ext>
                  </a:extLst>
                </a:gridCol>
                <a:gridCol w="681473">
                  <a:extLst>
                    <a:ext uri="{9D8B030D-6E8A-4147-A177-3AD203B41FA5}">
                      <a16:colId xmlns:a16="http://schemas.microsoft.com/office/drawing/2014/main" val="24056197"/>
                    </a:ext>
                  </a:extLst>
                </a:gridCol>
                <a:gridCol w="320013">
                  <a:extLst>
                    <a:ext uri="{9D8B030D-6E8A-4147-A177-3AD203B41FA5}">
                      <a16:colId xmlns:a16="http://schemas.microsoft.com/office/drawing/2014/main" val="3123477388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126681727"/>
                    </a:ext>
                  </a:extLst>
                </a:gridCol>
                <a:gridCol w="500743">
                  <a:extLst>
                    <a:ext uri="{9D8B030D-6E8A-4147-A177-3AD203B41FA5}">
                      <a16:colId xmlns:a16="http://schemas.microsoft.com/office/drawing/2014/main" val="997596439"/>
                    </a:ext>
                  </a:extLst>
                </a:gridCol>
              </a:tblGrid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59991488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1211030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0440279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51888459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4163496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6258636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94166019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99528605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52129442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7853398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98512304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291098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838877.7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501286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7430398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90305650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62299574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6010867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2910820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50445294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48070846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0443425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65365991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3669941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40430254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6456468"/>
                  </a:ext>
                </a:extLst>
              </a:tr>
              <a:tr h="151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3610689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93097FC-FA0B-8307-CD37-2708A4D651CE}"/>
              </a:ext>
            </a:extLst>
          </p:cNvPr>
          <p:cNvGrpSpPr/>
          <p:nvPr/>
        </p:nvGrpSpPr>
        <p:grpSpPr>
          <a:xfrm>
            <a:off x="0" y="0"/>
            <a:ext cx="12928600" cy="4845050"/>
            <a:chOff x="0" y="0"/>
            <a:chExt cx="12928600" cy="48450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30DAB6-913D-7543-95FC-D1851277632F}"/>
                </a:ext>
              </a:extLst>
            </p:cNvPr>
            <p:cNvGrpSpPr/>
            <p:nvPr/>
          </p:nvGrpSpPr>
          <p:grpSpPr>
            <a:xfrm>
              <a:off x="0" y="0"/>
              <a:ext cx="12884150" cy="4845050"/>
              <a:chOff x="0" y="0"/>
              <a:chExt cx="12884150" cy="484505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158CB0-EA0D-5172-90D6-B42B4675518E}"/>
                  </a:ext>
                </a:extLst>
              </p:cNvPr>
              <p:cNvSpPr/>
              <p:nvPr/>
            </p:nvSpPr>
            <p:spPr>
              <a:xfrm>
                <a:off x="2254250" y="31750"/>
                <a:ext cx="10629900" cy="4826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003A053-737D-41A7-1C84-0B4038A5B99A}"/>
                  </a:ext>
                </a:extLst>
              </p:cNvPr>
              <p:cNvSpPr/>
              <p:nvPr/>
            </p:nvSpPr>
            <p:spPr>
              <a:xfrm>
                <a:off x="0" y="0"/>
                <a:ext cx="2311400" cy="484505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B42C27-3377-45FF-A70C-20D7B3C3F55E}"/>
                </a:ext>
              </a:extLst>
            </p:cNvPr>
            <p:cNvSpPr/>
            <p:nvPr/>
          </p:nvSpPr>
          <p:spPr>
            <a:xfrm>
              <a:off x="2298700" y="450850"/>
              <a:ext cx="10629900" cy="482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>
                  <a:solidFill>
                    <a:srgbClr val="FF0000"/>
                  </a:solidFill>
                </a:rPr>
                <a:t>EMPLOYEE PERFORMANCE DASHBOARD</a:t>
              </a:r>
            </a:p>
          </p:txBody>
        </p:sp>
      </p:grpSp>
      <p:pic>
        <p:nvPicPr>
          <p:cNvPr id="9" name="table">
            <a:extLst>
              <a:ext uri="{FF2B5EF4-FFF2-40B4-BE49-F238E27FC236}">
                <a16:creationId xmlns:a16="http://schemas.microsoft.com/office/drawing/2014/main" id="{BE55DEBE-8CC8-E29E-C44F-569A1693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2101850"/>
            <a:ext cx="1828800" cy="1174750"/>
          </a:xfrm>
          <a:prstGeom prst="rect">
            <a:avLst/>
          </a:prstGeom>
        </p:spPr>
      </p:pic>
      <p:pic>
        <p:nvPicPr>
          <p:cNvPr id="11" name="table">
            <a:extLst>
              <a:ext uri="{FF2B5EF4-FFF2-40B4-BE49-F238E27FC236}">
                <a16:creationId xmlns:a16="http://schemas.microsoft.com/office/drawing/2014/main" id="{7B4C46D4-F8C3-A52A-6652-21F91FFF9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" y="571500"/>
            <a:ext cx="1828800" cy="1295400"/>
          </a:xfrm>
          <a:prstGeom prst="rect">
            <a:avLst/>
          </a:prstGeom>
        </p:spPr>
      </p:pic>
      <p:pic>
        <p:nvPicPr>
          <p:cNvPr id="12" name="table">
            <a:extLst>
              <a:ext uri="{FF2B5EF4-FFF2-40B4-BE49-F238E27FC236}">
                <a16:creationId xmlns:a16="http://schemas.microsoft.com/office/drawing/2014/main" id="{A3FB079B-B44D-C92F-AA3F-3A78454E4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3441700"/>
            <a:ext cx="1828800" cy="1676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6DE0320-D1E6-4936-8CBC-6FA57C6CE664}"/>
              </a:ext>
            </a:extLst>
          </p:cNvPr>
          <p:cNvSpPr/>
          <p:nvPr/>
        </p:nvSpPr>
        <p:spPr>
          <a:xfrm>
            <a:off x="3016250" y="1822450"/>
            <a:ext cx="1866900" cy="514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>
                <a:solidFill>
                  <a:srgbClr val="FF0000"/>
                </a:solidFill>
              </a:rPr>
              <a:t>Maximum Monthly Salary</a:t>
            </a:r>
            <a:r>
              <a:rPr lang="en-US" sz="1100" b="1" baseline="0">
                <a:solidFill>
                  <a:srgbClr val="FF0000"/>
                </a:solidFill>
              </a:rPr>
              <a:t> </a:t>
            </a:r>
            <a:endParaRPr lang="en-US" sz="1100" b="1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36962-256E-D588-B266-736D3311C237}"/>
              </a:ext>
            </a:extLst>
          </p:cNvPr>
          <p:cNvSpPr/>
          <p:nvPr/>
        </p:nvSpPr>
        <p:spPr>
          <a:xfrm>
            <a:off x="2990850" y="1803400"/>
            <a:ext cx="1905000" cy="8191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pic>
        <p:nvPicPr>
          <p:cNvPr id="15" name="Graphic 12" descr="Money with solid fill">
            <a:extLst>
              <a:ext uri="{FF2B5EF4-FFF2-40B4-BE49-F238E27FC236}">
                <a16:creationId xmlns:a16="http://schemas.microsoft.com/office/drawing/2014/main" id="{5B32C21A-ABF6-80E7-4D20-DC41993F1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3250" y="1943100"/>
            <a:ext cx="444500" cy="444500"/>
          </a:xfrm>
          <a:prstGeom prst="rect">
            <a:avLst/>
          </a:prstGeom>
        </p:spPr>
      </p:pic>
      <p:pic>
        <p:nvPicPr>
          <p:cNvPr id="16" name="Graphic 13" descr="Money with solid fill">
            <a:extLst>
              <a:ext uri="{FF2B5EF4-FFF2-40B4-BE49-F238E27FC236}">
                <a16:creationId xmlns:a16="http://schemas.microsoft.com/office/drawing/2014/main" id="{E6EB05C2-95AC-421B-8D39-1E19F947A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5500" y="2222500"/>
            <a:ext cx="533400" cy="3365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F06CAC9-3C8C-7A5C-DCDD-BC1C43B8D497}"/>
              </a:ext>
            </a:extLst>
          </p:cNvPr>
          <p:cNvSpPr/>
          <p:nvPr/>
        </p:nvSpPr>
        <p:spPr>
          <a:xfrm>
            <a:off x="5416550" y="1701800"/>
            <a:ext cx="23241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45846A-CF9C-1848-CBA8-978230DAAAE3}"/>
              </a:ext>
            </a:extLst>
          </p:cNvPr>
          <p:cNvSpPr/>
          <p:nvPr/>
        </p:nvSpPr>
        <p:spPr>
          <a:xfrm>
            <a:off x="5422900" y="1733550"/>
            <a:ext cx="230505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>
                <a:solidFill>
                  <a:srgbClr val="FF0000"/>
                </a:solidFill>
              </a:rPr>
              <a:t>Minimum Monthly Salary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2215F66-F213-46A2-A071-908B4E2AE9E2}"/>
              </a:ext>
            </a:extLst>
          </p:cNvPr>
          <p:cNvGraphicFramePr>
            <a:graphicFrameLocks/>
          </p:cNvGraphicFramePr>
          <p:nvPr/>
        </p:nvGraphicFramePr>
        <p:xfrm>
          <a:off x="2482850" y="2971800"/>
          <a:ext cx="3263900" cy="174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5A84ABA-B6FF-49BD-AB5B-4735A0017F4B}"/>
              </a:ext>
            </a:extLst>
          </p:cNvPr>
          <p:cNvGraphicFramePr>
            <a:graphicFrameLocks/>
          </p:cNvGraphicFramePr>
          <p:nvPr/>
        </p:nvGraphicFramePr>
        <p:xfrm>
          <a:off x="6108700" y="2946400"/>
          <a:ext cx="2930525" cy="170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1DBEFF3-F544-4301-B72A-5C8832F71DF8}"/>
              </a:ext>
            </a:extLst>
          </p:cNvPr>
          <p:cNvGraphicFramePr>
            <a:graphicFrameLocks/>
          </p:cNvGraphicFramePr>
          <p:nvPr/>
        </p:nvGraphicFramePr>
        <p:xfrm>
          <a:off x="9226550" y="2971800"/>
          <a:ext cx="2825750" cy="168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80064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5B02-6AE8-700A-3710-E6307556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Salary Distribution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1DBEFF3-F544-4301-B72A-5C8832F71D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0253954"/>
              </p:ext>
            </p:extLst>
          </p:nvPr>
        </p:nvGraphicFramePr>
        <p:xfrm>
          <a:off x="3169085" y="2167003"/>
          <a:ext cx="6250488" cy="3006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9856BE-68DF-418D-17B8-A4DDAA0EFB73}"/>
              </a:ext>
            </a:extLst>
          </p:cNvPr>
          <p:cNvSpPr txBox="1"/>
          <p:nvPr/>
        </p:nvSpPr>
        <p:spPr>
          <a:xfrm>
            <a:off x="325677" y="2029216"/>
            <a:ext cx="37077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junior staff has the highest salary distribution of 33 workers. Leaving senior staff with 26, and mid-level staff with 25</a:t>
            </a:r>
          </a:p>
        </p:txBody>
      </p:sp>
    </p:spTree>
    <p:extLst>
      <p:ext uri="{BB962C8B-B14F-4D97-AF65-F5344CB8AC3E}">
        <p14:creationId xmlns:p14="http://schemas.microsoft.com/office/powerpoint/2010/main" val="208310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237D-20DB-65F2-7199-9509E02C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Department Performance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215F66-F213-46A2-A071-908B4E2AE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827108"/>
              </p:ext>
            </p:extLst>
          </p:nvPr>
        </p:nvGraphicFramePr>
        <p:xfrm>
          <a:off x="4972833" y="2091847"/>
          <a:ext cx="6551111" cy="4401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29459B-D6C6-9E1D-CBBE-AF3AA6DF7BF4}"/>
              </a:ext>
            </a:extLst>
          </p:cNvPr>
          <p:cNvSpPr txBox="1"/>
          <p:nvPr/>
        </p:nvSpPr>
        <p:spPr>
          <a:xfrm>
            <a:off x="576197" y="2605414"/>
            <a:ext cx="41711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According to the chart, NA has the least performance of 27.5. Leaving IT department with the highest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5554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0BA2-8F90-676A-6267-E0A9D478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Distribution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A84ABA-B6FF-49BD-AB5B-4735A0017F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5981106"/>
              </p:ext>
            </p:extLst>
          </p:nvPr>
        </p:nvGraphicFramePr>
        <p:xfrm>
          <a:off x="3820437" y="1803748"/>
          <a:ext cx="7277623" cy="4373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2C9BFBC-A48C-8827-2682-692672B56D0D}"/>
              </a:ext>
            </a:extLst>
          </p:cNvPr>
          <p:cNvSpPr txBox="1"/>
          <p:nvPr/>
        </p:nvSpPr>
        <p:spPr>
          <a:xfrm>
            <a:off x="739036" y="2492679"/>
            <a:ext cx="2968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chart shows the percentage of workers and the location they work from. The highest workers work remotely and the least workers are working from Lagos</a:t>
            </a:r>
          </a:p>
        </p:txBody>
      </p:sp>
    </p:spTree>
    <p:extLst>
      <p:ext uri="{BB962C8B-B14F-4D97-AF65-F5344CB8AC3E}">
        <p14:creationId xmlns:p14="http://schemas.microsoft.com/office/powerpoint/2010/main" val="240225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BBDF-FF64-7874-9DE8-0DA2122C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btw Salary and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A6BAAA-E620-2AA3-F715-944CA6E64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864646"/>
              </p:ext>
            </p:extLst>
          </p:nvPr>
        </p:nvGraphicFramePr>
        <p:xfrm>
          <a:off x="3594970" y="1690688"/>
          <a:ext cx="7758829" cy="44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95DD7F-1076-ABA4-2C6F-143B675087FB}"/>
              </a:ext>
            </a:extLst>
          </p:cNvPr>
          <p:cNvSpPr txBox="1"/>
          <p:nvPr/>
        </p:nvSpPr>
        <p:spPr>
          <a:xfrm>
            <a:off x="838200" y="2279737"/>
            <a:ext cx="329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chart shows </a:t>
            </a:r>
          </a:p>
        </p:txBody>
      </p:sp>
    </p:spTree>
    <p:extLst>
      <p:ext uri="{BB962C8B-B14F-4D97-AF65-F5344CB8AC3E}">
        <p14:creationId xmlns:p14="http://schemas.microsoft.com/office/powerpoint/2010/main" val="307299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185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DEP 202 Data Analysis Cosmopolitan University</vt:lpstr>
      <vt:lpstr>Business Objective </vt:lpstr>
      <vt:lpstr>PowerPoint Presentation</vt:lpstr>
      <vt:lpstr>1. Salary Distribution</vt:lpstr>
      <vt:lpstr>Department Performance </vt:lpstr>
      <vt:lpstr>Employee Distribution </vt:lpstr>
      <vt:lpstr>Relationship btw Salary and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Kosara .C.U</dc:creator>
  <cp:lastModifiedBy>Kosara .C.U</cp:lastModifiedBy>
  <cp:revision>2</cp:revision>
  <dcterms:created xsi:type="dcterms:W3CDTF">2026-04-18T06:51:03Z</dcterms:created>
  <dcterms:modified xsi:type="dcterms:W3CDTF">2026-04-18T12:06:32Z</dcterms:modified>
</cp:coreProperties>
</file>